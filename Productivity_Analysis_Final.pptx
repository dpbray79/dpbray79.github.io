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EBE9"/>
                </a:solidFill>
              </a:defRPr>
            </a:pPr>
            <a:r>
              <a:t>Data-Driven Productivity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CAAA4"/>
                </a:solidFill>
              </a:defRPr>
            </a:pPr>
            <a:r>
              <a:t>Analyzing 6 Weeks of Performance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Goal: Optimize work schedule based on empirical performance data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Challenge: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Multiple concurrent priorities across different domains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Academic coursework (Python, SQL, Statistics, Power BI)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Content development (lesson plans, curricula)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Professional development tasks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Personal projects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Question: How can schedule design maximize output quality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while managing capacity effectively?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E2723"/>
                </a:solidFill>
              </a:defRPr>
            </a:pPr>
            <a:r>
              <a:t>Methodology</a:t>
            </a:r>
          </a:p>
          <a:p>
            <a:pPr>
              <a:spcBef>
                <a:spcPts val="1600"/>
              </a:spcBef>
              <a:defRPr sz="2000">
                <a:solidFill>
                  <a:srgbClr val="616161"/>
                </a:solidFill>
              </a:defRPr>
            </a:pPr>
            <a:r>
              <a:t>Data Collection &amp; Analysis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Data Collection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Tracking Period: October 31 - November 26, 2025 (6 weeks)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Data Sources: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AI-assisted activity logging system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Timestamped work session records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Output volume measurement per session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Variables Measured: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Duration (hours per session)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Output quality (1-10 scale, post-session evaluation)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Activity category and complexity level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Time of day (morning/afternoon/evening)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Tasks initiated and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Performance Metrics: Calculation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F5700"/>
                </a:solidFill>
              </a:defRPr>
            </a:pPr>
            <a:r>
              <a:t>Energy (Objective)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863840" cy="594360"/>
          </a:xfrm>
          <a:prstGeom prst="rect">
            <a:avLst/>
          </a:prstGeom>
          <a:solidFill>
            <a:srgbClr val="EFEBE9"/>
          </a:solidFill>
          <a:ln w="254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urier New"/>
              </a:defRPr>
            </a:pPr>
            <a:r>
              <a:t>Energy = (Output Quality × Task Complexity) ÷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F5700"/>
                </a:solidFill>
              </a:defRPr>
            </a:pPr>
            <a:r>
              <a:t>Productivity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7863840" cy="594360"/>
          </a:xfrm>
          <a:prstGeom prst="rect">
            <a:avLst/>
          </a:prstGeom>
          <a:solidFill>
            <a:srgbClr val="EFEBE9"/>
          </a:solidFill>
          <a:ln w="254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urier New"/>
              </a:defRPr>
            </a:pPr>
            <a:r>
              <a:t>Productivity = (Hours × Energy × Quality) ÷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F5700"/>
                </a:solidFill>
              </a:defRPr>
            </a:pPr>
            <a:r>
              <a:t>Completion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solidFill>
            <a:srgbClr val="EFEBE9"/>
          </a:solidFill>
          <a:ln w="254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urier New"/>
              </a:defRPr>
            </a:pPr>
            <a:r>
              <a:t>Completion = (Tasks Completed ÷ Tasks Started)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F5700"/>
                </a:solidFill>
              </a:defRPr>
            </a:pPr>
            <a:r>
              <a:t>Task Efficiency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29200"/>
            <a:ext cx="7863840" cy="594360"/>
          </a:xfrm>
          <a:prstGeom prst="rect">
            <a:avLst/>
          </a:prstGeom>
          <a:solidFill>
            <a:srgbClr val="EFEBE9"/>
          </a:solidFill>
          <a:ln w="254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urier New"/>
              </a:defRPr>
            </a:pPr>
            <a:r>
              <a:t>Efficiency = Tasks Completed ÷ Hours Worked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2723"/>
                </a:solidFill>
              </a:defRPr>
            </a:pPr>
            <a:r>
              <a:t>Task Complexity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95548"/>
                </a:solidFill>
              </a:defRPr>
            </a:pPr>
            <a:r>
              <a:t>Complexity scores assigned by cognitive demand and task type: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High Complexity (10/10):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• Python programming, Database development</a:t>
            </a:r>
            <a:br/>
            <a:r>
              <a:t>• Abstract reasoning, working memory</a:t>
            </a:r>
            <a:br/>
            <a:r>
              <a:t>• Problem decomposition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Medium-High (8-9/10):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• Privacy analysis, Advanced statistics</a:t>
            </a:r>
            <a:br/>
            <a:r>
              <a:t>• Power BI, Business intelligence</a:t>
            </a:r>
            <a:br/>
            <a:r>
              <a:t>• Sustained focus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Medium (6-7/10):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• Business development, Strategy</a:t>
            </a:r>
            <a:br/>
            <a:r>
              <a:t>• ESL curriculum, Lesson planning</a:t>
            </a:r>
            <a:br/>
            <a:r>
              <a:t>• Moderate cognitive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Low-Medium (4-5/10):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• Technical troubleshooting</a:t>
            </a:r>
            <a:br/>
            <a:r>
              <a:t>• Vehicle research, Health topics</a:t>
            </a:r>
            <a:br/>
            <a:r>
              <a:t>• Routine cognitive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Low Complexity (2-3/10):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• Fitness planning, Music practice</a:t>
            </a:r>
            <a:br/>
            <a:r>
              <a:t>• Gaming, Casual creative work</a:t>
            </a:r>
            <a:br/>
            <a:r>
              <a:t>• Minimal cognitive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Scoring Basis: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Based on established cognitive load research and task characteristics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2723"/>
                </a:solidFill>
              </a:defRPr>
            </a:pPr>
            <a:r>
              <a:t>Dataset Summary: 6-Week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95548"/>
                </a:solidFill>
              </a:defRPr>
            </a:pPr>
            <a:r>
              <a:t>November 1-26, 2024 | Comprehensive productivity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94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Total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Work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5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78 of 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Tasks 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5.9/10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Avg 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4320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8.3/10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Avg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743200"/>
            <a:ext cx="2286000" cy="1005840"/>
          </a:xfrm>
          <a:prstGeom prst="rect">
            <a:avLst/>
          </a:prstGeom>
          <a:solidFill>
            <a:srgbClr val="EFEBE9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59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700"/>
                </a:solidFill>
              </a:defRPr>
            </a:pPr>
            <a:r>
              <a:t>85.7%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E2723"/>
                </a:solidFill>
              </a:defRPr>
            </a:pPr>
            <a:r>
              <a:t>Completion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</a:defRPr>
            </a:pPr>
            <a:r>
              <a:t>Data collected through timestamped work session records with quality assessments and task complexity ratings for each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E2723"/>
                </a:solidFill>
              </a:defRPr>
            </a:pPr>
            <a:r>
              <a:t>Findings</a:t>
            </a:r>
          </a:p>
          <a:p>
            <a:pPr>
              <a:spcBef>
                <a:spcPts val="1600"/>
              </a:spcBef>
              <a:defRPr sz="2000">
                <a:solidFill>
                  <a:srgbClr val="616161"/>
                </a:solidFill>
              </a:defRPr>
            </a:pPr>
            <a:r>
              <a:t>Data Analysis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Finding 1: Time Distribution Across Categories</a:t>
            </a:r>
          </a:p>
        </p:txBody>
      </p:sp>
      <p:pic>
        <p:nvPicPr>
          <p:cNvPr id="5" name="Picture 4" descr="chart5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2723"/>
                </a:solidFill>
              </a:defRPr>
            </a:pPr>
            <a:r>
              <a:t>Finding 2: Two Types of Productive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F5700"/>
                </a:solidFill>
              </a:defRPr>
            </a:pPr>
            <a:r>
              <a:t>Focus Capacity (Cognitive) vs. Output Capacity (Volume)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Morning (8am-12pm):</a:t>
            </a:r>
            <a:br/>
            <a:r>
              <a:t>• Energy: 7.9/10 (Focus Capacity)</a:t>
            </a:r>
            <a:br/>
            <a:r>
              <a:t>• Quality: 8.6/10</a:t>
            </a:r>
            <a:br/>
            <a:r>
              <a:t>• Tasks: 20 (Output Capacity: 3.4/10)</a:t>
            </a:r>
            <a:br/>
            <a:r>
              <a:t>• Avg Complexity: 9.3/10</a:t>
            </a:r>
            <a:br/>
            <a:br/>
            <a:r>
              <a:t>Afternoon (12pm-5pm):</a:t>
            </a:r>
            <a:br/>
            <a:r>
              <a:t>• Energy: 6.3/10 (Focus Capacity)</a:t>
            </a:r>
            <a:br/>
            <a:r>
              <a:t>• Quality: 8.2/10</a:t>
            </a:r>
            <a:br/>
            <a:r>
              <a:t>• Tasks: 20 (Output Capacity: 3.6/10)</a:t>
            </a:r>
            <a:br/>
            <a:r>
              <a:t>• Avg Complexity: 7.7/10</a:t>
            </a:r>
            <a:br/>
            <a:br/>
            <a:r>
              <a:t>Evening (5pm-10pm):</a:t>
            </a:r>
            <a:br/>
            <a:r>
              <a:t>• Energy: 3.7/10 (Focus Capacity)</a:t>
            </a:r>
            <a:br/>
            <a:r>
              <a:t>• Quality: 7.9/10</a:t>
            </a:r>
            <a:br/>
            <a:r>
              <a:t>• Tasks: 38 (Output Capacity: 7.5/10)</a:t>
            </a:r>
            <a:br/>
            <a:r>
              <a:t>• Avg Complexity: 4.8/10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95548"/>
                </a:solidFill>
              </a:defRPr>
            </a:pPr>
            <a:r>
              <a:t>Key Insight: Different times excel at different types of work. Morning = highest focus capacity for complex analytical tasks. Evening = highest output capacity for high-volume simple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Finding 3: Energy Reflects Cognitive Deployment</a:t>
            </a:r>
          </a:p>
        </p:txBody>
      </p:sp>
      <p:pic>
        <p:nvPicPr>
          <p:cNvPr id="5" name="Picture 4" descr="chart2_energy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Finding 4: Task Completion Performance</a:t>
            </a:r>
          </a:p>
        </p:txBody>
      </p:sp>
      <p:pic>
        <p:nvPicPr>
          <p:cNvPr id="5" name="Picture 4" descr="chart11_task_candles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097280"/>
            <a:ext cx="2926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Task Flow Analysis:</a:t>
            </a:r>
            <a:br/>
            <a:r>
              <a:t>• 91 tasks initiated</a:t>
            </a:r>
            <a:br/>
            <a:r>
              <a:t>• 78 tasks completed</a:t>
            </a:r>
            <a:br/>
            <a:r>
              <a:t>• 85.7% completion rate</a:t>
            </a:r>
            <a:br/>
            <a:r>
              <a:t>• 13 tasks in progress (14.3%)</a:t>
            </a:r>
            <a:br/>
            <a:br/>
            <a:r>
              <a:t>Work-In-Progress Metrics:</a:t>
            </a:r>
            <a:br/>
            <a:r>
              <a:t>• Average daily WIP: 0.6 tasks</a:t>
            </a:r>
            <a:br/>
            <a:r>
              <a:t>• Maintained low WIP throughout period</a:t>
            </a:r>
            <a:br/>
            <a:br/>
            <a:r>
              <a:t>Completion Pattern:</a:t>
            </a:r>
            <a:br/>
            <a:r>
              <a:t>• Consistent daily closure rate</a:t>
            </a:r>
            <a:br/>
            <a:r>
              <a:t>• Most sessions: same-day completion</a:t>
            </a:r>
            <a:br/>
            <a:r>
              <a:t>• Complex projects: 2-3 day completion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Finding 5: Work Type Naturally Aligns with Time Period</a:t>
            </a:r>
          </a:p>
        </p:txBody>
      </p:sp>
      <p:pic>
        <p:nvPicPr>
          <p:cNvPr id="5" name="Picture 4" descr="chart9_activity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E2723"/>
                </a:solidFill>
              </a:defRPr>
            </a:pPr>
            <a:r>
              <a:t>Analysis</a:t>
            </a:r>
          </a:p>
          <a:p>
            <a:pPr>
              <a:spcBef>
                <a:spcPts val="1600"/>
              </a:spcBef>
              <a:defRPr sz="2000">
                <a:solidFill>
                  <a:srgbClr val="616161"/>
                </a:solidFill>
              </a:defRPr>
            </a:pPr>
            <a:r>
              <a:t>Interpreting Performance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Pattern Analysis: Focus vs. Volume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1. Morning Focus Advantage</a:t>
            </a:r>
            <a:br/>
            <a:r>
              <a:t>   • Energy (focus capacity): 7.9/10 - highest cognitive capacity</a:t>
            </a:r>
            <a:br/>
            <a:r>
              <a:t>   • Handles complex work: avg complexity 9.3/10</a:t>
            </a:r>
            <a:br/>
            <a:r>
              <a:t>   • Productivity for complex work: 124% higher than evening</a:t>
            </a:r>
            <a:br/>
            <a:r>
              <a:t>   • Optimal for: Python, Database, Strategic Analysis</a:t>
            </a:r>
            <a:br/>
            <a:br/>
            <a:r>
              <a:t>2. Evening Volume Advantage</a:t>
            </a:r>
            <a:br/>
            <a:r>
              <a:t>   • Output capacity: 7.5/10 - highest task throughput</a:t>
            </a:r>
            <a:br/>
            <a:r>
              <a:t>   • Completed 38 tasks vs 20 in morning</a:t>
            </a:r>
            <a:br/>
            <a:r>
              <a:t>   • Lower complexity work: avg 4.8/10</a:t>
            </a:r>
            <a:br/>
            <a:r>
              <a:t>   • Optimal for: Content creation, Admin, Quick tasks</a:t>
            </a:r>
            <a:br/>
            <a:br/>
            <a:r>
              <a:t>3. Task Rotation &amp; Rest Strategy</a:t>
            </a:r>
            <a:br/>
            <a:r>
              <a:t>   • Alternating work types prevents fatigue</a:t>
            </a:r>
            <a:br/>
            <a:r>
              <a:t>   • Strategic 20-minute rest intervals utilized</a:t>
            </a:r>
            <a:br/>
            <a:r>
              <a:t>   • Low WIP (0.6 tasks/day) enables focus</a:t>
            </a:r>
            <a:br/>
            <a:r>
              <a:t>   • 85.7% completion rate demonstrates discipline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Productivity Metrics: Complex Work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840480" cy="1737360"/>
          </a:xfrm>
          <a:prstGeom prst="rect">
            <a:avLst/>
          </a:prstGeom>
          <a:solidFill>
            <a:srgbClr val="EFEBE9"/>
          </a:solidFill>
          <a:ln w="50800">
            <a:solidFill>
              <a:srgbClr val="B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BF5700"/>
                </a:solidFill>
              </a:defRPr>
            </a:pPr>
            <a:r>
              <a:t>0.731/hr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Morning Productivity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3840480" cy="1737360"/>
          </a:xfrm>
          <a:prstGeom prst="rect">
            <a:avLst/>
          </a:prstGeom>
          <a:solidFill>
            <a:srgbClr val="EFEBE9"/>
          </a:solidFill>
          <a:ln w="508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60020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8D6E63"/>
                </a:solidFill>
              </a:defRPr>
            </a:pPr>
            <a:r>
              <a:t>0.592/hr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68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Afternoon Productivity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3840480" cy="1737360"/>
          </a:xfrm>
          <a:prstGeom prst="rect">
            <a:avLst/>
          </a:prstGeom>
          <a:solidFill>
            <a:srgbClr val="EFEBE9"/>
          </a:solidFill>
          <a:ln w="508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95548"/>
                </a:solidFill>
              </a:defRPr>
            </a:pPr>
            <a:r>
              <a:t>0.326/hr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Evening Productivity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474720"/>
            <a:ext cx="3840480" cy="1737360"/>
          </a:xfrm>
          <a:prstGeom prst="rect">
            <a:avLst/>
          </a:prstGeom>
          <a:solidFill>
            <a:srgbClr val="EFEBE9"/>
          </a:solidFill>
          <a:ln w="50800"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37033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2723"/>
                </a:solidFill>
              </a:defRPr>
            </a:pPr>
            <a:r>
              <a:t>+124%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572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Morning Advantage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Improvement Opportunity: Optimize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Current Morning Allocation: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35 hours over 6 weeks (37.2%)</a:t>
            </a:r>
            <a:br/>
            <a:r>
              <a:t>• Highest focus capacity window underutilized for complex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Observed Misalignment: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Complex analytical work sometimes scheduled in evening</a:t>
            </a:r>
            <a:br/>
            <a:r>
              <a:t>• High-value tasks during lower-capacity periods</a:t>
            </a:r>
            <a:br/>
            <a:r>
              <a:t>• Simple tasks occupying prime morning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Optimization Potential: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Increase morning allocation:</a:t>
            </a:r>
            <a:br/>
            <a:r>
              <a:t>  35 → 45+ hours</a:t>
            </a:r>
            <a:br/>
            <a:r>
              <a:t>• Reserve peak cognitive capacity for priority tasks</a:t>
            </a:r>
            <a:br/>
            <a:r>
              <a:t>• Move high-volume simple tasks to evening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Expected Impact: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79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Leverage 124% morning productivity advantage</a:t>
            </a:r>
            <a:br/>
            <a:r>
              <a:t>• Maximize output quality on critical deliverables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E2723"/>
                </a:solidFill>
              </a:defRPr>
            </a:pPr>
            <a:r>
              <a:t>Optimization</a:t>
            </a:r>
          </a:p>
          <a:p>
            <a:pPr>
              <a:spcBef>
                <a:spcPts val="1600"/>
              </a:spcBef>
              <a:defRPr sz="2000">
                <a:solidFill>
                  <a:srgbClr val="616161"/>
                </a:solidFill>
              </a:defRPr>
            </a:pPr>
            <a:r>
              <a:t>Data-Based Schedule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Proposed Schedule: Capacity-Task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E2723"/>
                </a:solidFill>
              </a:defRPr>
            </a:pPr>
            <a:r>
              <a:t>Morning Block (8am-12pm)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1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5700"/>
                </a:solidFill>
              </a:defRPr>
            </a:pPr>
            <a:r>
              <a:t>Focus Capacity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Energy: 7.9/10 (highest cognitive capacity)</a:t>
            </a:r>
            <a:br/>
            <a:br/>
            <a:r>
              <a:t>• Schedule: Complex analytical work</a:t>
            </a:r>
            <a:br/>
            <a:r>
              <a:t>  - Python, Database development</a:t>
            </a:r>
            <a:br/>
            <a:r>
              <a:t>  - Statistical analysis, Strategic planning</a:t>
            </a:r>
            <a:br/>
            <a:br/>
            <a:r>
              <a:t>• Rationale: Quality (8.6) × Complexity (9.3) = Peak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E2723"/>
                </a:solidFill>
              </a:defRPr>
            </a:pPr>
            <a:r>
              <a:t>Afternoon Block (12pm-5pm)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5700"/>
                </a:solidFill>
              </a:defRPr>
            </a:pPr>
            <a:r>
              <a:t>Implementation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Energy: 6.3/10 (moderate focus capacity)</a:t>
            </a:r>
            <a:br/>
            <a:br/>
            <a:r>
              <a:t>• Schedule: Structured technical tasks</a:t>
            </a:r>
            <a:br/>
            <a:r>
              <a:t>  - Power BI, SQL queries</a:t>
            </a:r>
            <a:br/>
            <a:r>
              <a:t>  - Hands-on project work</a:t>
            </a:r>
            <a:br/>
            <a:br/>
            <a:r>
              <a:t>• Rationale: Execute plans made in 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E2723"/>
                </a:solidFill>
              </a:defRPr>
            </a:pPr>
            <a:r>
              <a:t>Evening Block (5pm-10pm)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41731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5700"/>
                </a:solidFill>
              </a:defRPr>
            </a:pPr>
            <a:r>
              <a:t>Volume Capacity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Energy: 3.7/10 (focus)</a:t>
            </a:r>
            <a:br/>
            <a:r>
              <a:t>  BUT 7.5/10 (volume)</a:t>
            </a:r>
            <a:br/>
            <a:br/>
            <a:r>
              <a:t>• Schedule: High-throughput activities</a:t>
            </a:r>
            <a:br/>
            <a:r>
              <a:t>  - Content creation, Lesson plans</a:t>
            </a:r>
            <a:br/>
            <a:r>
              <a:t>  - Administrative tasks</a:t>
            </a:r>
            <a:br/>
            <a:r>
              <a:t>  - Quick wins</a:t>
            </a:r>
            <a:br/>
            <a:br/>
            <a:r>
              <a:t>• Rationale: Leverage 38-task evening throughput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5548"/>
                </a:solidFill>
              </a:defRPr>
            </a:pPr>
            <a:r>
              <a:t>Strategy: Match task complexity to time-of-day capacity for optimal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Implementation: Phased Schedule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Phase 1: Immediate Reallocation (Week 1-2)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Block 8am-12pm for complex analytical work only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Move routine tasks to afternoon/evening slots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Track energy and quality metrics daily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Phase 2: Refinement &amp; Adjustment (Week 3-4)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Monitor productivity scores using same formulas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Adjust time block boundaries based on performance data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Implement 20-min rest intervals as needed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Phase 3: Validation &amp; Measurement (Week 5-6)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Compare before/after productivity scores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Calculate actual improvement percentage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Document quality improvements on complex deliverables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Success Metrics: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Morning allocation: 35 → 45+ hours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Overall productivity: 0.548 → 0.620+ per hour (13% gain)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Maintain 85%+ completion rate</a:t>
            </a:r>
          </a:p>
          <a:p>
            <a:pPr>
              <a:spcBef>
                <a:spcPts val="1000"/>
              </a:spcBef>
              <a:defRPr sz="1700">
                <a:solidFill>
                  <a:srgbClr val="212121"/>
                </a:solidFill>
              </a:defRPr>
            </a:pPr>
            <a:r>
              <a:t>• Quality consistency: 8.3+ across categories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Projected Performance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1. Productivity Score Increase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Current: 0.548/hr</a:t>
            </a:r>
            <a:br/>
            <a:r>
              <a:t>• Target: 0.620+/hr</a:t>
            </a:r>
            <a:br/>
            <a:r>
              <a:t>• 13.1% improvement</a:t>
            </a:r>
            <a:br/>
            <a:r>
              <a:t>• Method: Shift 15+ hours complex work to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2. Quality Output on Critical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Leverage 124% morning advantage for priority work</a:t>
            </a:r>
            <a:br/>
            <a:r>
              <a:t>• Maintain 8.6/10 quality on analytical deliverables</a:t>
            </a:r>
            <a:br/>
            <a:r>
              <a:t>• Reduce quality variance across time periods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3. Task Management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Sustain 85%+ completion rate</a:t>
            </a:r>
            <a:br/>
            <a:r>
              <a:t>• Keep WIP below 1.0 task/day average</a:t>
            </a:r>
            <a:br/>
            <a:r>
              <a:t>• Improve same-day closure on complex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4. Energy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Strategic task rotation prevents fatigue</a:t>
            </a:r>
            <a:br/>
            <a:r>
              <a:t>• 20-minute rest intervals as needed</a:t>
            </a:r>
            <a:br/>
            <a:r>
              <a:t>• Match task complexity to available cognitive capacity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E2723"/>
                </a:solidFill>
              </a:defRPr>
            </a:pPr>
            <a:r>
              <a:t>Performance Data</a:t>
            </a:r>
          </a:p>
          <a:p>
            <a:pPr>
              <a:spcBef>
                <a:spcPts val="1600"/>
              </a:spcBef>
              <a:defRPr sz="2000">
                <a:solidFill>
                  <a:srgbClr val="616161"/>
                </a:solidFill>
              </a:defRPr>
            </a:pPr>
            <a:r>
              <a:t>6-Week Documented Results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EBE9"/>
                </a:solidFill>
              </a:defRPr>
            </a:pPr>
            <a:r>
              <a:t>Task Completion: Sustained Performance Pattern</a:t>
            </a:r>
          </a:p>
        </p:txBody>
      </p:sp>
      <p:pic>
        <p:nvPicPr>
          <p:cNvPr id="5" name="Picture 4" descr="chart10_task_flow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Weekly Performance Distribution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Measured Outcomes: Baseline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Performance Metrics (6 Weeks):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✓ 94 hours documented work</a:t>
            </a:r>
            <a:br/>
            <a:br/>
            <a:r>
              <a:t>✓ 57 work sessions measured</a:t>
            </a:r>
            <a:br/>
            <a:br/>
            <a:r>
              <a:t>✓ 78 tasks completed</a:t>
            </a:r>
            <a:br/>
            <a:r>
              <a:t>  (85.7% completion rate)</a:t>
            </a:r>
            <a:br/>
            <a:br/>
            <a:r>
              <a:t>✓ 8.3/10 avg output quality</a:t>
            </a:r>
            <a:br/>
            <a:br/>
            <a:r>
              <a:t>✓ 5.9/10 avg energy (objective)</a:t>
            </a:r>
            <a:br/>
            <a:br/>
            <a:r>
              <a:t>✓ 0.6 tasks WIP per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Skill Development: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Python/Data Analysis:</a:t>
            </a:r>
            <a:br/>
            <a:r>
              <a:t>  20.5 hrs → 8.7/10 quality</a:t>
            </a:r>
            <a:br/>
            <a:br/>
            <a:r>
              <a:t>• Database Management:</a:t>
            </a:r>
            <a:br/>
            <a:r>
              <a:t>  6.5 hrs → 8.0/10 quality</a:t>
            </a:r>
            <a:br/>
            <a:br/>
            <a:r>
              <a:t>• Business Intelligence:</a:t>
            </a:r>
            <a:br/>
            <a:r>
              <a:t>  4.5 hrs → 8.0/10 quality</a:t>
            </a:r>
            <a:br/>
            <a:br/>
            <a:r>
              <a:t>• Data Privacy/Ethics:</a:t>
            </a:r>
            <a:br/>
            <a:r>
              <a:t>  7.5 hrs → 9.3/10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40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700"/>
                </a:solidFill>
              </a:defRPr>
            </a:pPr>
            <a:r>
              <a:t>Capacity Distribution: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062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• Morning: 7.9/10 focus capacity</a:t>
            </a:r>
            <a:br/>
            <a:r>
              <a:t>  (complex work)</a:t>
            </a:r>
            <a:br/>
            <a:br/>
            <a:r>
              <a:t>• Evening: 7.5/10 volume capacity</a:t>
            </a:r>
            <a:br/>
            <a:r>
              <a:t>  (simple tasks)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EBE9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5700"/>
                </a:solidFill>
              </a:defRPr>
            </a:pPr>
            <a:r>
              <a:t>1. Cognitive Capacity Varies by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19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• Morning: 7.9/10 focus capacity</a:t>
            </a:r>
            <a:br/>
            <a:r>
              <a:t>  (124% productivity advantage)</a:t>
            </a:r>
            <a:br/>
            <a:r>
              <a:t>• Evening: 7.5/10 volume capacity</a:t>
            </a:r>
            <a:br/>
            <a:r>
              <a:t>  (best for high-throughput work)</a:t>
            </a:r>
            <a:br/>
            <a:br/>
            <a:r>
              <a:t>Recommendation: Match task complexity to capacity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5700"/>
                </a:solidFill>
              </a:defRPr>
            </a:pPr>
            <a:r>
              <a:t>2. Objective Energy Validates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• Energy = (Quality × Complexity) ÷ 10</a:t>
            </a:r>
            <a:br/>
            <a:r>
              <a:t>• Captures cognitive deployment,</a:t>
            </a:r>
            <a:br/>
            <a:r>
              <a:t>  not subjective feeling</a:t>
            </a:r>
            <a:br/>
            <a:br/>
            <a:r>
              <a:t>Recommendation: Use formula to evaluate schedule effectiveness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5700"/>
                </a:solidFill>
              </a:defRPr>
            </a:pPr>
            <a:r>
              <a:t>3. Task Completion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1731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• Low WIP (0.6 tasks/day) correlates</a:t>
            </a:r>
            <a:br/>
            <a:r>
              <a:t>  with 85.7% completion</a:t>
            </a:r>
            <a:br/>
            <a:br/>
            <a:r>
              <a:t>Recommendation: Limit concurrent tasks, focus on 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5700"/>
                </a:solidFill>
              </a:defRPr>
            </a:pPr>
            <a:r>
              <a:t>4. Work Variety Prevents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• Task rotation maintains</a:t>
            </a:r>
            <a:br/>
            <a:r>
              <a:t>  performance</a:t>
            </a:r>
            <a:br/>
            <a:r>
              <a:t>• Strategic 20-minute intervals</a:t>
            </a:r>
            <a:br/>
            <a:r>
              <a:t>  support sustained output</a:t>
            </a:r>
            <a:br/>
            <a:br/>
            <a:r>
              <a:t>Recommendation: Build alternation and rest into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E2723"/>
                </a:solidFill>
              </a:defRPr>
            </a:pPr>
            <a:r>
              <a:t>Next Step: Implement optimized schedule and measure 13.1% improvement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E2723"/>
                </a:solidFill>
              </a:defRPr>
            </a:pPr>
            <a:r>
              <a:t>Progressive Checkpoints:</a:t>
            </a:r>
            <a:br/>
            <a:r>
              <a:t>Data-Driven Adjustments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723"/>
                </a:solidFill>
              </a:defRPr>
            </a:pPr>
            <a: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723"/>
                </a:solidFill>
              </a:defRPr>
            </a:pPr>
            <a:r>
              <a:t>Morning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723"/>
                </a:solidFill>
              </a:defRPr>
            </a:pPr>
            <a:r>
              <a:t>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723"/>
                </a:solidFill>
              </a:defRPr>
            </a:pPr>
            <a:r>
              <a:t>Observation &amp;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Week 2</a:t>
            </a:r>
            <a:br/>
            <a:r>
              <a:t>(Nov 1-14)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21.5 hrs</a:t>
            </a:r>
            <a:br/>
            <a:r>
              <a:t>(39.1%)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Quality: 8.2</a:t>
            </a:r>
            <a:br/>
            <a:r>
              <a:t>Completion: 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63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Pattern emerging: Morning shows highest energy (8.2) vs evening (3.5)</a:t>
            </a:r>
            <a:br/>
            <a:br/>
            <a:r>
              <a:t>Action: Schedule more Python/Database work in morning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Week 4</a:t>
            </a:r>
            <a:br/>
            <a:r>
              <a:t>(Nov 1-21)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35.0 hrs</a:t>
            </a:r>
            <a:br/>
            <a:r>
              <a:t>(37.2%)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Quality: 8.2</a:t>
            </a:r>
            <a:br/>
            <a:r>
              <a:t>Completion: 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Pattern confirmed: Morning optimal for complexity 9-10 tasks</a:t>
            </a:r>
            <a:br/>
            <a:br/>
            <a:r>
              <a:t>Action: Maintain morning priority for analytical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Week 6</a:t>
            </a:r>
            <a:br/>
            <a:r>
              <a:t>(Nov 1-26)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35.0 hrs</a:t>
            </a:r>
            <a:br/>
            <a:r>
              <a:t>(37.2%)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Quality: 8.2</a:t>
            </a:r>
            <a:br/>
            <a:r>
              <a:t>Completion: 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Validated: 124% productivity advantage in morning for complex work</a:t>
            </a:r>
            <a:br/>
            <a:br/>
            <a:r>
              <a:t>Next Phase: Increase to 45+ morning hours per 6-week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95548"/>
                </a:solidFill>
              </a:defRPr>
            </a:pPr>
            <a:r>
              <a:t>Key Insight: Progressive tracking revealed consistent morning advantage. Evening completes more tasks (38 vs 20) but morning delivers higher cognitive value (complexity 9.3 vs 4.8). Data validates capacity-task matching strategy.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2723"/>
                </a:solidFill>
              </a:defRPr>
            </a:pPr>
            <a:r>
              <a:t>Trends &amp; Optimization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723"/>
                </a:solidFill>
              </a:defRPr>
            </a:pPr>
            <a:r>
              <a:t>Metrics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Morning Allocation: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• Week 2: 21.5 hrs (39%)</a:t>
            </a:r>
            <a:br/>
            <a:r>
              <a:t>• Week 4: 35.0 hrs (37%)</a:t>
            </a:r>
            <a:br/>
            <a:r>
              <a:t>• Week 6: 35.0 hrs (37%)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Quality Consistency: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• Week 2: 8.18/10</a:t>
            </a:r>
            <a:br/>
            <a:r>
              <a:t>• Week 4: 8.19/10</a:t>
            </a:r>
            <a:br/>
            <a:r>
              <a:t>• Week 6: 8.19/10</a:t>
            </a:r>
            <a:br/>
            <a:r>
              <a:t>(Stable high quality maintained)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Completion Rate: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• Week 2: 92.2%</a:t>
            </a:r>
            <a:br/>
            <a:r>
              <a:t>• Week 4: 85.7%</a:t>
            </a:r>
            <a:br/>
            <a:r>
              <a:t>• Week 6: 85.7%</a:t>
            </a:r>
            <a:br/>
            <a:r>
              <a:t>(Normalized as workload increased)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723"/>
                </a:solidFill>
              </a:defRPr>
            </a:pPr>
            <a:r>
              <a:t>Optimization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Phase 1 (Weeks 7-8):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Increase morning to 40 hours</a:t>
            </a:r>
            <a:br/>
            <a:r>
              <a:t>Target: +5 hours complex work</a:t>
            </a:r>
            <a:br/>
            <a:r>
              <a:t>Monitor: Quality &amp; 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Phase 2 (Weeks 9-10):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Increase morning to 45 hours</a:t>
            </a:r>
            <a:br/>
            <a:r>
              <a:t>Reserve evening for volume tasks</a:t>
            </a:r>
            <a:br/>
            <a:r>
              <a:t>Validate: Productivity gain ≥10%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5700"/>
                </a:solidFill>
              </a:defRPr>
            </a:pPr>
            <a:r>
              <a:t>Phase 3 (Weeks 11-12):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Stabilize at optimal allocation</a:t>
            </a:r>
            <a:br/>
            <a:r>
              <a:t>Measure 13.1% improvement</a:t>
            </a:r>
            <a:br/>
            <a:r>
              <a:t>Document refined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5548"/>
                </a:solidFill>
              </a:defRPr>
            </a:pPr>
            <a:r>
              <a:t>Expected Outcome: By shifting 15 hours of complex analytical work to morning peak capacity periods, overall productivity should increase from 0.548 to 0.620 per hour. This represents a measurable 13.1% efficiency gain while maintaining quality standards and completion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2128</Words>
  <Application>Microsoft Macintosh PowerPoint</Application>
  <PresentationFormat>On-screen Show (4:3)</PresentationFormat>
  <Paragraphs>199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Bray,Dylan</cp:lastModifiedBy>
  <cp:revision>1</cp:revision>
  <dcterms:created xsi:type="dcterms:W3CDTF">2013-01-27T09:14:16Z</dcterms:created>
  <dcterms:modified xsi:type="dcterms:W3CDTF">2025-12-02T00:20:12Z</dcterms:modified>
  <cp:category/>
</cp:coreProperties>
</file>